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20"/>
    <p:sldId id="270" r:id="rId21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171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Relationship Id="rId9" Type="http://schemas.openxmlformats.org/officeDocument/2006/relationships/image" Target="../media/image7.png"/><Relationship Id="rId10" Type="http://schemas.openxmlformats.org/officeDocument/2006/relationships/image" Target="../media/image9.png"/><Relationship Id="rId11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Relationship Id="rId9" Type="http://schemas.openxmlformats.org/officeDocument/2006/relationships/image" Target="../media/image7.png"/><Relationship Id="rId10" Type="http://schemas.openxmlformats.org/officeDocument/2006/relationships/image" Target="../media/image9.png"/><Relationship Id="rId11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17.png"/><Relationship Id="rId9" Type="http://schemas.openxmlformats.org/officeDocument/2006/relationships/image" Target="../media/image25.png"/><Relationship Id="rId10" Type="http://schemas.openxmlformats.org/officeDocument/2006/relationships/image" Target="../media/image9.png"/><Relationship Id="rId11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32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7.png"/><Relationship Id="rId10" Type="http://schemas.openxmlformats.org/officeDocument/2006/relationships/image" Target="../media/image39.png"/><Relationship Id="rId11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7.png"/><Relationship Id="rId10" Type="http://schemas.openxmlformats.org/officeDocument/2006/relationships/image" Target="../media/image49.png"/><Relationship Id="rId11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7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7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32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7.png"/><Relationship Id="rId10" Type="http://schemas.openxmlformats.org/officeDocument/2006/relationships/image" Target="../media/image39.png"/><Relationship Id="rId11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7.png"/><Relationship Id="rId10" Type="http://schemas.openxmlformats.org/officeDocument/2006/relationships/image" Target="../media/image44.png"/><Relationship Id="rId11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7.png"/><Relationship Id="rId10" Type="http://schemas.openxmlformats.org/officeDocument/2006/relationships/image" Target="../media/image49.png"/><Relationship Id="rId11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7.png"/><Relationship Id="rId10" Type="http://schemas.openxmlformats.org/officeDocument/2006/relationships/image" Target="../media/image49.png"/><Relationship Id="rId11" Type="http://schemas.openxmlformats.org/officeDocument/2006/relationships/image" Target="../media/image5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2.png"/><Relationship Id="rId8" Type="http://schemas.openxmlformats.org/officeDocument/2006/relationships/image" Target="../media/image57.png"/><Relationship Id="rId9" Type="http://schemas.openxmlformats.org/officeDocument/2006/relationships/image" Target="../media/image7.png"/><Relationship Id="rId10" Type="http://schemas.openxmlformats.org/officeDocument/2006/relationships/image" Target="../media/image58.png"/><Relationship Id="rId11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804672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25880"/>
            <a:ext cx="3383280" cy="22677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2BA3"/>
                </a:solidFill>
              </a:rPr>
              <a:t>DATA SCIENCE CONTEST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526280" y="20116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71B3A"/>
                </a:solidFill>
              </a:rPr>
              <a:t>IEDC SUMMIT 2026</a:t>
            </a:r>
            <a:endParaRPr lang="en-US" sz="4000" dirty="0"/>
          </a:p>
        </p:txBody>
      </p:sp>
      <p:sp>
        <p:nvSpPr>
          <p:cNvPr id="11" name="Text 6"/>
          <p:cNvSpPr/>
          <p:nvPr/>
        </p:nvSpPr>
        <p:spPr>
          <a:xfrm>
            <a:off x="4572000" y="277063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71B3A"/>
                </a:solidFill>
              </a:rPr>
              <a:t>Music as a cue for personal memory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4572000" y="3246120"/>
            <a:ext cx="4480560" cy="0"/>
          </a:xfrm>
          <a:prstGeom prst="line">
            <a:avLst/>
          </a:prstGeom>
          <a:noFill/>
          <a:ln w="25400">
            <a:solidFill>
              <a:srgbClr val="FF7600"/>
            </a:solidFill>
            <a:prstDash val="solid"/>
          </a:ln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9070848" y="3246120"/>
            <a:ext cx="960120" cy="0"/>
          </a:xfrm>
          <a:prstGeom prst="line">
            <a:avLst/>
          </a:prstGeom>
          <a:noFill/>
          <a:ln w="25400">
            <a:solidFill>
              <a:srgbClr val="6C2BA3"/>
            </a:solidFill>
            <a:prstDash val="solid"/>
          </a:ln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10040112" y="3246120"/>
            <a:ext cx="914400" cy="0"/>
          </a:xfrm>
          <a:prstGeom prst="line">
            <a:avLst/>
          </a:prstGeom>
          <a:noFill/>
          <a:ln w="25400">
            <a:solidFill>
              <a:srgbClr val="0B9FA4"/>
            </a:solidFill>
            <a:prstDash val="solid"/>
          </a:ln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4572000" y="3703320"/>
            <a:ext cx="6217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4736592" y="3849624"/>
            <a:ext cx="5888736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4748B"/>
                </a:solidFill>
              </a:rPr>
              <a:t>MemoryBridge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64748B"/>
                </a:solidFill>
              </a:rPr>
              <a:t>[Your Name]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64748B"/>
                </a:solidFill>
              </a:rPr>
              <a:t>[Your College]</a:t>
            </a:r>
            <a:endParaRPr lang="en-US" sz="2100" dirty="0"/>
          </a:p>
        </p:txBody>
      </p:sp>
      <p:sp>
        <p:nvSpPr>
          <p:cNvPr id="17" name="Shape 12"/>
          <p:cNvSpPr/>
          <p:nvPr/>
        </p:nvSpPr>
        <p:spPr>
          <a:xfrm>
            <a:off x="4572000" y="5166360"/>
            <a:ext cx="1508760" cy="329184"/>
          </a:xfrm>
          <a:prstGeom prst="roundRect">
            <a:avLst>
              <a:gd name="adj" fmla="val 11111"/>
            </a:avLst>
          </a:prstGeom>
          <a:solidFill>
            <a:srgbClr val="FF7600"/>
          </a:solidFill>
          <a:ln w="12700">
            <a:solidFill>
              <a:srgbClr val="FF7600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ACB7C3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4681728" y="5244084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CODE INCLUSIVE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263640" y="5166360"/>
            <a:ext cx="1600200" cy="329184"/>
          </a:xfrm>
          <a:prstGeom prst="roundRect">
            <a:avLst>
              <a:gd name="adj" fmla="val 11111"/>
            </a:avLst>
          </a:prstGeom>
          <a:solidFill>
            <a:srgbClr val="6C2BA3"/>
          </a:solidFill>
          <a:ln w="12700">
            <a:solidFill>
              <a:srgbClr val="6C2BA3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ACB7C3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6373368" y="5244084"/>
            <a:ext cx="1380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BUILD ACCESSIBLE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046720" y="5166360"/>
            <a:ext cx="2057400" cy="329184"/>
          </a:xfrm>
          <a:prstGeom prst="roundRect">
            <a:avLst>
              <a:gd name="adj" fmla="val 11111"/>
            </a:avLst>
          </a:prstGeom>
          <a:solidFill>
            <a:srgbClr val="0B9FA4"/>
          </a:solidFill>
          <a:ln w="12700">
            <a:solidFill>
              <a:srgbClr val="0B9FA4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ACB7C3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8156448" y="5244084"/>
            <a:ext cx="1837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EMPOWER INDEPENDENCE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01</a:t>
            </a:r>
            <a:endParaRPr lang="en-US" sz="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F3CDC59-DD27-66B4-8151-3E40B69AE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0656" y="313089"/>
            <a:ext cx="1535084" cy="62874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7DE5F62-2D32-8BD7-314B-E59728473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1470" y="331377"/>
            <a:ext cx="1820412" cy="62874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862F04E-57E7-BA59-3E15-85F29203F8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6729" y="237744"/>
            <a:ext cx="1603387" cy="100584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C862445-8186-48BE-3AB1-AB61CD1516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4491" y="321555"/>
            <a:ext cx="794677" cy="67362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F46AB22-ABDC-5EF8-09C0-EFB659C2CD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3543" y="292150"/>
            <a:ext cx="847417" cy="70719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104A31F-A4C3-7B41-4DB7-CC43B95269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350" y="-271777"/>
            <a:ext cx="1597290" cy="179847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5936A0C-1A07-9B5C-E69D-0C664B0C0D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047" y="-436383"/>
            <a:ext cx="1956986" cy="2127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19456"/>
            <a:ext cx="11384279" cy="740664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50876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31720" y="1325880"/>
            <a:ext cx="0" cy="566928"/>
          </a:xfrm>
          <a:prstGeom prst="line">
            <a:avLst/>
          </a:prstGeom>
          <a:noFill/>
          <a:ln w="12700">
            <a:solidFill>
              <a:srgbClr val="0A3F7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606040" y="11155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2606040" y="16276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One submission, four workstreams: data preparation, modelling, evaluation and the app.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3152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600"/>
                </a:solidFill>
              </a:rPr>
              <a:t>SUBMITTED BY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31520" y="2505456"/>
            <a:ext cx="1005840" cy="0"/>
          </a:xfrm>
          <a:prstGeom prst="line">
            <a:avLst/>
          </a:prstGeom>
          <a:noFill/>
          <a:ln w="27940">
            <a:solidFill>
              <a:srgbClr val="FF7600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731520" y="26060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896112" y="2752344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1B3A"/>
                </a:solidFill>
              </a:rPr>
              <a:t>[Your Name]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443484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2BA3"/>
                </a:solidFill>
              </a:rPr>
              <a:t>PROJECT TITLE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434840" y="2505456"/>
            <a:ext cx="1005840" cy="0"/>
          </a:xfrm>
          <a:prstGeom prst="line">
            <a:avLst/>
          </a:prstGeom>
          <a:noFill/>
          <a:ln w="27940">
            <a:solidFill>
              <a:srgbClr val="6C2BA3"/>
            </a:solidFill>
            <a:prstDash val="solid"/>
          </a:ln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4434840" y="260604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4599432" y="2752344"/>
            <a:ext cx="648309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1B3A"/>
                </a:solidFill>
              </a:rPr>
              <a:t>MemoryBridge — music as a cue for personal memory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73152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9FA4"/>
                </a:solidFill>
              </a:rPr>
              <a:t>WORK BREAKDOWN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31520" y="4105656"/>
            <a:ext cx="1005840" cy="0"/>
          </a:xfrm>
          <a:prstGeom prst="line">
            <a:avLst/>
          </a:prstGeom>
          <a:noFill/>
          <a:ln w="27940">
            <a:solidFill>
              <a:srgbClr val="0B9FA4"/>
            </a:solidFill>
            <a:prstDash val="solid"/>
          </a:ln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777240" y="42519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0" name="Text 25"/>
          <p:cNvSpPr/>
          <p:nvPr/>
        </p:nvSpPr>
        <p:spPr>
          <a:xfrm>
            <a:off x="941832" y="4398264"/>
            <a:ext cx="200253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 b="1">
                <a:solidFill>
                  <a:srgbClr val="071B3A"/>
                </a:solidFill>
              </a:rPr>
              <a:t>TurboPrep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71B3A"/>
                </a:solidFill>
              </a:rPr>
              <a:t>Cleaning, joining and standardising 9,840 songs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3520440" y="42519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3685032" y="4398264"/>
            <a:ext cx="200253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 b="1">
                <a:solidFill>
                  <a:srgbClr val="071B3A"/>
                </a:solidFill>
              </a:rPr>
              <a:t>RapidMiner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71B3A"/>
                </a:solidFill>
              </a:rPr>
              <a:t>Seven features, three models, cross validation, batch scoring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6263640" y="42519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4" name="Text 29"/>
          <p:cNvSpPr/>
          <p:nvPr/>
        </p:nvSpPr>
        <p:spPr>
          <a:xfrm>
            <a:off x="6428232" y="4398264"/>
            <a:ext cx="200253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 b="1">
                <a:solidFill>
                  <a:srgbClr val="071B3A"/>
                </a:solidFill>
              </a:rPr>
              <a:t>Python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71B3A"/>
                </a:solidFill>
              </a:rPr>
              <a:t>MusicBrainz API, simulation, Streamlit app, SQLite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9006840" y="42519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6" name="Text 31"/>
          <p:cNvSpPr/>
          <p:nvPr/>
        </p:nvSpPr>
        <p:spPr>
          <a:xfrm>
            <a:off x="9171432" y="4398264"/>
            <a:ext cx="2002536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 b="1">
                <a:solidFill>
                  <a:srgbClr val="071B3A"/>
                </a:solidFill>
              </a:rPr>
              <a:t>Evaluation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71B3A"/>
                </a:solidFill>
              </a:rPr>
              <a:t>Holdout AUC 0.804, top-10 hit rate 74.2%</a:t>
            </a:r>
            <a:endParaRPr lang="en-US" sz="13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FD13DA7-BE04-0782-38F5-5821403F9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9415" y="271246"/>
            <a:ext cx="1536325" cy="62794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5FA2ABD-AB97-4BD7-4E4D-2E7B8C7116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3552" y="210225"/>
            <a:ext cx="1603387" cy="100592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31D2E1D-3570-82EC-D4D4-3790419912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5714" y="283844"/>
            <a:ext cx="792549" cy="67061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F3D7DC28-AC9E-4660-44BE-69B7BC149C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3657" y="265176"/>
            <a:ext cx="1855586" cy="63403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E108915-7300-605C-C2DB-94F906F6E6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2852" y="247265"/>
            <a:ext cx="847417" cy="70719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24C1E0A-FB5D-E2AB-A81E-973B7EA45C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3331" y="-280571"/>
            <a:ext cx="1597290" cy="179847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8C95103-682E-C17F-C853-0A33BCB0E7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89" y="-462981"/>
            <a:ext cx="1956986" cy="2127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77724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50876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31720" y="1325880"/>
            <a:ext cx="0" cy="566928"/>
          </a:xfrm>
          <a:prstGeom prst="line">
            <a:avLst/>
          </a:prstGeom>
          <a:noFill/>
          <a:ln w="12700">
            <a:solidFill>
              <a:srgbClr val="0A3F7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606040" y="11155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2606040" y="16276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Older listeners cannot find the music of their own youth, and the memories it carries are never written down.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7724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600"/>
                </a:solidFill>
              </a:rPr>
              <a:t>WHAT IS THE PROBLEM?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77240" y="2505456"/>
            <a:ext cx="1005840" cy="0"/>
          </a:xfrm>
          <a:prstGeom prst="line">
            <a:avLst/>
          </a:prstGeom>
          <a:noFill/>
          <a:ln w="27940">
            <a:solidFill>
              <a:srgbClr val="FF7600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777240" y="2606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941832" y="2752344"/>
            <a:ext cx="5157216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71B3A"/>
                </a:solidFill>
              </a:rPr>
              <a:t>Music heard between the ages of 10 and 30 is the strongest cue for personal memory, but nobody holds that list of songs for a specific person. Existing playlist tools need a caregiver who already knows the songs, and when a memory does arrive it is lost again because nothing captures it.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62940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9FA4"/>
                </a:solidFill>
              </a:rPr>
              <a:t>WHO FACES IT?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629400" y="2505456"/>
            <a:ext cx="1005840" cy="0"/>
          </a:xfrm>
          <a:prstGeom prst="line">
            <a:avLst/>
          </a:prstGeom>
          <a:noFill/>
          <a:ln w="27940">
            <a:solidFill>
              <a:srgbClr val="0B9FA4"/>
            </a:solidFill>
            <a:prstDash val="solid"/>
          </a:ln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6629400" y="2606040"/>
            <a:ext cx="4526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6793992" y="2752344"/>
            <a:ext cx="4197096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Older adults and the families who want their stories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Malayalam and Hindi listeners in Kerala and India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Barriers: English-only catalogues, no personal song list, no record of the memory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77724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2BA3"/>
                </a:solidFill>
              </a:rPr>
              <a:t>EVIDENCE / OBSERVATION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77240" y="4745736"/>
            <a:ext cx="1005840" cy="0"/>
          </a:xfrm>
          <a:prstGeom prst="line">
            <a:avLst/>
          </a:prstGeom>
          <a:noFill/>
          <a:ln w="27940">
            <a:solidFill>
              <a:srgbClr val="6C2BA3"/>
            </a:solidFill>
            <a:prstDash val="solid"/>
          </a:ln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777240" y="4846320"/>
            <a:ext cx="10378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0" name="Text 25"/>
          <p:cNvSpPr/>
          <p:nvPr/>
        </p:nvSpPr>
        <p:spPr>
          <a:xfrm>
            <a:off x="941832" y="4992624"/>
            <a:ext cx="10049256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4748B"/>
                </a:solidFill>
              </a:rPr>
              <a:t>Cuddy, Sikka et al. (2021): recollection of popular music peaks in the teens and twenties — the reminiscence bump.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64748B"/>
                </a:solidFill>
              </a:rPr>
              <a:t>In the Million Song Dataset only 1,210 songs with a year and a genre come from the 1950s, against 128,641 from the 2000s.</a:t>
            </a:r>
            <a:endParaRPr lang="en-US" sz="16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D172926-3ED8-B997-C205-6B63646B4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188" y="201125"/>
            <a:ext cx="1603387" cy="100592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0383A6F-3D82-851B-5F31-81987A76B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6754" y="292608"/>
            <a:ext cx="798645" cy="67061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D523D03-80A3-1F90-2559-63C89CB58D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2988" y="329102"/>
            <a:ext cx="1873490" cy="63403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9CE7787-5EC0-D0E8-27B4-BF4627200F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3638" y="292608"/>
            <a:ext cx="1536325" cy="63403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8B8A4F4-FB77-9ACB-4661-12098407F1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485" y="292608"/>
            <a:ext cx="847417" cy="70719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23D672E-CE63-9B0C-2A1A-6E578F429D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0280" y="-276080"/>
            <a:ext cx="1597290" cy="179847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69EF2C9-8D05-BD32-4E00-818FEF9FD7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151" y="-446624"/>
            <a:ext cx="1956986" cy="2127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768096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50876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31720" y="1325880"/>
            <a:ext cx="0" cy="566928"/>
          </a:xfrm>
          <a:prstGeom prst="line">
            <a:avLst/>
          </a:prstGeom>
          <a:noFill/>
          <a:ln w="12700">
            <a:solidFill>
              <a:srgbClr val="0A3F7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606040" y="11155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Users &amp; Context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2606040" y="16276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Who this is built for, what they do today, and the limits the design has to respect.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731520" y="210312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896112" y="2249424"/>
            <a:ext cx="2871216" cy="3017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 b="1">
                <a:solidFill>
                  <a:srgbClr val="071B3A"/>
                </a:solidFill>
              </a:rPr>
              <a:t>User Persona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71B3A"/>
                </a:solidFill>
              </a:rPr>
              <a:t>Thomas, 66, born 1960, Kerala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71B3A"/>
                </a:solidFill>
              </a:rPr>
              <a:t>Listens to Malayalam film songs and some English music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71B3A"/>
                </a:solidFill>
              </a:rPr>
              <a:t>Types slowly, speaks easily, uses a phone with help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71B3A"/>
                </a:solidFill>
              </a:rPr>
              <a:t>Wants his children to know the stories behind his songs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4297680" y="210312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4462272" y="2249424"/>
            <a:ext cx="3145536" cy="3017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 b="1">
                <a:solidFill>
                  <a:srgbClr val="071B3A"/>
                </a:solidFill>
              </a:rPr>
              <a:t>Current Journey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71B3A"/>
                </a:solidFill>
              </a:rPr>
              <a:t>Tries to recall a song he half remembers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71B3A"/>
                </a:solidFill>
              </a:rPr>
              <a:t>Searches in English and gets recent hits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71B3A"/>
                </a:solidFill>
              </a:rPr>
              <a:t>Gives up, or finds it and tells nobody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71B3A"/>
                </a:solidFill>
              </a:rPr>
              <a:t>The memory arrives and then disappears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138160" y="210312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8302752" y="2249424"/>
            <a:ext cx="2871216" cy="3017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 b="1">
                <a:solidFill>
                  <a:srgbClr val="071B3A"/>
                </a:solidFill>
              </a:rPr>
              <a:t>Design Constraints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71B3A"/>
                </a:solidFill>
              </a:rPr>
              <a:t>Malayalam and Hindi titles must survive encoding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71B3A"/>
                </a:solidFill>
              </a:rPr>
              <a:t>No streaming account, low bandwidth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71B3A"/>
                </a:solidFill>
              </a:rPr>
              <a:t>Speech instead of typing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71B3A"/>
                </a:solidFill>
              </a:rPr>
              <a:t>No medical claim, no invented memories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77240" y="5715000"/>
            <a:ext cx="4793742" cy="0"/>
          </a:xfrm>
          <a:prstGeom prst="line">
            <a:avLst/>
          </a:prstGeom>
          <a:noFill/>
          <a:ln w="15240">
            <a:solidFill>
              <a:srgbClr val="0B9FA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5570982" y="5682996"/>
            <a:ext cx="64008" cy="64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B9FA4"/>
            </a:solidFill>
            <a:prstDash val="solid"/>
          </a:ln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5997092" y="5715000"/>
            <a:ext cx="2982773" cy="0"/>
          </a:xfrm>
          <a:prstGeom prst="line">
            <a:avLst/>
          </a:prstGeom>
          <a:noFill/>
          <a:ln w="15240">
            <a:solidFill>
              <a:srgbClr val="0B9FA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3"/>
          <p:cNvSpPr/>
          <p:nvPr/>
        </p:nvSpPr>
        <p:spPr>
          <a:xfrm>
            <a:off x="8979865" y="5673852"/>
            <a:ext cx="82296" cy="82296"/>
          </a:xfrm>
          <a:prstGeom prst="ellipse">
            <a:avLst/>
          </a:prstGeom>
          <a:solidFill>
            <a:srgbClr val="0B9FA4"/>
          </a:solidFill>
          <a:ln w="12700">
            <a:solidFill>
              <a:srgbClr val="0B9FA4"/>
            </a:solidFill>
            <a:prstDash val="solid"/>
          </a:ln>
        </p:spPr>
        <p:txBody>
          <a:bodyPr/>
          <a:p/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F591868-42B8-96BC-D1E5-388502865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57" y="196509"/>
            <a:ext cx="1603387" cy="100592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299E626-9AFD-AD96-65E9-D299A8576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71" y="294071"/>
            <a:ext cx="798645" cy="67061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AC4358A-E1E3-DC46-85F6-3F944974FE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281750"/>
            <a:ext cx="1798462" cy="63403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CED4ADE-6DE6-24E4-EE8B-E9BC762045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9053" y="274238"/>
            <a:ext cx="1536325" cy="63403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18FC795-CB0E-8B4B-FD3A-67FB7B957F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6081" y="294071"/>
            <a:ext cx="847417" cy="70719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74B8D65-2763-20A2-82AC-D6F65F62A0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56" y="-451196"/>
            <a:ext cx="1956986" cy="212768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971E80A-3946-E60C-D44C-5F11391692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37748" y="-272834"/>
            <a:ext cx="1596120" cy="17907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7315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50876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31720" y="1325880"/>
            <a:ext cx="0" cy="566928"/>
          </a:xfrm>
          <a:prstGeom prst="line">
            <a:avLst/>
          </a:prstGeom>
          <a:noFill/>
          <a:ln w="12700">
            <a:solidFill>
              <a:srgbClr val="0A3F7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606040" y="11155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Overview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2606040" y="16276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What the product does, in one line anyone can understand.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777240" y="214884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941832" y="2295144"/>
            <a:ext cx="10277856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1B3A"/>
                </a:solidFill>
              </a:rPr>
              <a:t>ONE-LINE SOLUTION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71B3A"/>
                </a:solidFill>
              </a:rPr>
              <a:t>MemoryBridge helps an older listener revisit their own life by suggesting the songs of their youth and keeping the memory each song brings back.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2296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600"/>
                </a:solidFill>
              </a:rPr>
              <a:t>CORE VALUE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22960" y="3831336"/>
            <a:ext cx="1005840" cy="0"/>
          </a:xfrm>
          <a:prstGeom prst="line">
            <a:avLst/>
          </a:prstGeom>
          <a:noFill/>
          <a:ln w="27940">
            <a:solidFill>
              <a:srgbClr val="FF7600"/>
            </a:solidFill>
            <a:prstDash val="solid"/>
          </a:ln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822960" y="38862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987552" y="4032504"/>
            <a:ext cx="2916936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Songs from the person's own language and era, not a generic decade playlist, and the story they tell is saved and can be reopened by life period.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448056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2BA3"/>
                </a:solidFill>
              </a:rPr>
              <a:t>WHAT YOU BUILT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480560" y="3831336"/>
            <a:ext cx="1005840" cy="0"/>
          </a:xfrm>
          <a:prstGeom prst="line">
            <a:avLst/>
          </a:prstGeom>
          <a:noFill/>
          <a:ln w="27940">
            <a:solidFill>
              <a:srgbClr val="6C2BA3"/>
            </a:solidFill>
            <a:prstDash val="solid"/>
          </a:ln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4480560" y="38862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4645152" y="4032504"/>
            <a:ext cx="2916936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A Streamlit app over a RapidMiner Random Forest, an Altair AI Studio TurboPrep pipeline and a local SQLite store.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813816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9FA4"/>
                </a:solidFill>
              </a:rPr>
              <a:t>EXPECTED OUTCOME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138160" y="3831336"/>
            <a:ext cx="1005840" cy="0"/>
          </a:xfrm>
          <a:prstGeom prst="line">
            <a:avLst/>
          </a:prstGeom>
          <a:noFill/>
          <a:ln w="27940">
            <a:solidFill>
              <a:srgbClr val="0B9FA4"/>
            </a:solidFill>
            <a:prstDash val="solid"/>
          </a:ln>
        </p:spPr>
        <p:txBody>
          <a:bodyPr/>
          <a:p/>
        </p:txBody>
      </p:sp>
      <p:sp>
        <p:nvSpPr>
          <p:cNvPr id="31" name="Shape 26"/>
          <p:cNvSpPr/>
          <p:nvPr/>
        </p:nvSpPr>
        <p:spPr>
          <a:xfrm>
            <a:off x="8138160" y="38862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8302752" y="4032504"/>
            <a:ext cx="2916936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Top-10 hit rate 74.2% against 63.2% for the formula alone, 100% language match in the top 10, memories kept by life period.</a:t>
            </a:r>
            <a:endParaRPr lang="en-US" sz="16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92F3AA0-B4DF-EE37-B056-855E9D63E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824" y="169034"/>
            <a:ext cx="1603387" cy="100592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F443157-BE6A-1B5D-D488-559A6CC860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1623" y="269761"/>
            <a:ext cx="798645" cy="67061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A3B7C7-9BF1-4BC1-6C8B-A25553C35D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2531" y="263625"/>
            <a:ext cx="1947588" cy="63403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84B764E-4F44-3305-D436-D54CBF07A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4777" y="254014"/>
            <a:ext cx="1536325" cy="63403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5B574D6-B401-CB64-CDAB-C9A8DFD6A2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2691" y="247923"/>
            <a:ext cx="847417" cy="70719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2C583C3-B750-4DA0-73AE-3ECE7DF89B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183" y="-471192"/>
            <a:ext cx="1956986" cy="212768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D924179-CB75-2D17-659C-31884B2B16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4323" y="-306586"/>
            <a:ext cx="1597290" cy="17984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7315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50876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31720" y="1325880"/>
            <a:ext cx="0" cy="566928"/>
          </a:xfrm>
          <a:prstGeom prst="line">
            <a:avLst/>
          </a:prstGeom>
          <a:noFill/>
          <a:ln w="12700">
            <a:solidFill>
              <a:srgbClr val="0A3F7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606040" y="11155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/ Workflow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2606040" y="16276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How the solution works internally, from raw data to a saved memory.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822960" y="26517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987552" y="2798064"/>
            <a:ext cx="1271016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B3A"/>
                </a:solidFill>
              </a:rPr>
              <a:t>Input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71B3A"/>
                </a:solidFill>
              </a:rPr>
              <a:t>Birth year, language, genres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2514600" y="2944368"/>
            <a:ext cx="411480" cy="320040"/>
          </a:xfrm>
          <a:prstGeom prst="chevron">
            <a:avLst/>
          </a:prstGeom>
          <a:solidFill>
            <a:srgbClr val="FF7600"/>
          </a:solidFill>
          <a:ln w="12700">
            <a:solidFill>
              <a:srgbClr val="FF7600"/>
            </a:solidFill>
            <a:prstDash val="solid"/>
          </a:ln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3108960" y="26517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3273552" y="2798064"/>
            <a:ext cx="1271016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B3A"/>
                </a:solidFill>
              </a:rPr>
              <a:t>TurboPrep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71B3A"/>
                </a:solidFill>
              </a:rPr>
              <a:t>Clean, join, standardise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800600" y="2944368"/>
            <a:ext cx="411480" cy="320040"/>
          </a:xfrm>
          <a:prstGeom prst="chevron">
            <a:avLst/>
          </a:prstGeom>
          <a:solidFill>
            <a:srgbClr val="6C2BA3"/>
          </a:solidFill>
          <a:ln w="12700">
            <a:solidFill>
              <a:srgbClr val="6C2BA3"/>
            </a:solidFill>
            <a:prstDash val="solid"/>
          </a:ln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5394960" y="26517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5559552" y="2798064"/>
            <a:ext cx="1271016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B3A"/>
                </a:solidFill>
              </a:rPr>
              <a:t>RapidMiner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71B3A"/>
                </a:solidFill>
              </a:rPr>
              <a:t>Random Forest, 7 features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086600" y="2944368"/>
            <a:ext cx="411480" cy="320040"/>
          </a:xfrm>
          <a:prstGeom prst="chevron">
            <a:avLst/>
          </a:prstGeom>
          <a:solidFill>
            <a:srgbClr val="0B9FA4"/>
          </a:solidFill>
          <a:ln w="12700">
            <a:solidFill>
              <a:srgbClr val="0B9FA4"/>
            </a:solidFill>
            <a:prstDash val="solid"/>
          </a:ln>
        </p:spPr>
        <p:txBody>
          <a:bodyPr/>
          <a:p/>
        </p:txBody>
      </p:sp>
      <p:sp>
        <p:nvSpPr>
          <p:cNvPr id="28" name="Shape 23"/>
          <p:cNvSpPr/>
          <p:nvPr/>
        </p:nvSpPr>
        <p:spPr>
          <a:xfrm>
            <a:off x="7680960" y="26517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7845552" y="2798064"/>
            <a:ext cx="1271016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B3A"/>
                </a:solidFill>
              </a:rPr>
              <a:t>Output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71B3A"/>
                </a:solidFill>
              </a:rPr>
              <a:t>Top 10 songs, ranked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9372600" y="2944368"/>
            <a:ext cx="411480" cy="320040"/>
          </a:xfrm>
          <a:prstGeom prst="chevron">
            <a:avLst/>
          </a:prstGeom>
          <a:solidFill>
            <a:srgbClr val="0A3F78"/>
          </a:solidFill>
          <a:ln w="12700">
            <a:solidFill>
              <a:srgbClr val="0A3F78"/>
            </a:solidFill>
            <a:prstDash val="solid"/>
          </a:ln>
        </p:spPr>
        <p:txBody>
          <a:bodyPr/>
          <a:p/>
        </p:txBody>
      </p:sp>
      <p:sp>
        <p:nvSpPr>
          <p:cNvPr id="31" name="Shape 26"/>
          <p:cNvSpPr/>
          <p:nvPr/>
        </p:nvSpPr>
        <p:spPr>
          <a:xfrm>
            <a:off x="9966960" y="26517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10131552" y="2798064"/>
            <a:ext cx="1271016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B3A"/>
                </a:solidFill>
              </a:rPr>
              <a:t>Impact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71B3A"/>
                </a:solidFill>
              </a:rPr>
              <a:t>Memory saved by life period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822960" y="4206240"/>
            <a:ext cx="10698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4" name="Text 29"/>
          <p:cNvSpPr/>
          <p:nvPr/>
        </p:nvSpPr>
        <p:spPr>
          <a:xfrm>
            <a:off x="987552" y="4352544"/>
            <a:ext cx="10369296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64748B"/>
                </a:solidFill>
              </a:rPr>
              <a:t>Five public sources → Python sampling and the MusicBrainz API → TurboPrep → songs_master.csv, 9,840 songs.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i="1" dirty="0">
                <a:solidFill>
                  <a:srgbClr val="64748B"/>
                </a:solidFill>
              </a:rPr>
              <a:t>Python builds 9,589 simulated training rows → RapidMiner cross validation split on user_id → Random Forest → 265,680 predictions.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i="1" dirty="0">
                <a:solidFill>
                  <a:srgbClr val="64748B"/>
                </a:solidFill>
              </a:rPr>
              <a:t>The app reads that file: the baseline picks 200 candidates, the model ranks them, SQLite keeps the memory.</a:t>
            </a:r>
            <a:endParaRPr lang="en-US" sz="17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FB9BD51-1213-58AB-12F3-D27571DAD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9839" y="173736"/>
            <a:ext cx="1609483" cy="100592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A683354-D37B-981C-2CC4-28263C7D99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998" y="286702"/>
            <a:ext cx="798645" cy="67061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A963094-8B0A-9F84-BD39-87092828E9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0209" y="265176"/>
            <a:ext cx="1789003" cy="63403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17EBB6B-DDCC-D18C-01B0-DCC0363112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9324" y="277340"/>
            <a:ext cx="1536325" cy="63403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E4C0AF7-BB7D-075D-CBF7-F9ED11B2B7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3925" y="258370"/>
            <a:ext cx="848891" cy="7017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9F47165-7198-6036-EE87-0E8A359255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240" y="-473030"/>
            <a:ext cx="1956986" cy="212768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46D30ED-5D5E-6D9F-5775-30F8D9BDDD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72339" y="-283619"/>
            <a:ext cx="1597290" cy="17923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7315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50876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31720" y="1325880"/>
            <a:ext cx="0" cy="566928"/>
          </a:xfrm>
          <a:prstGeom prst="line">
            <a:avLst/>
          </a:prstGeom>
          <a:noFill/>
          <a:ln w="12700">
            <a:solidFill>
              <a:srgbClr val="0A3F7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606040" y="11155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&amp; Preparation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2606040" y="16276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Five public datasets, cleaned and joined into one master table of 9,840 songs.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685800" y="22860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868680" y="2514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600"/>
                </a:solidFill>
              </a:rPr>
              <a:t>Sources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14400" y="30632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Million Song Dataset — 1,000,000 tracks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tagtraum genres — 280,831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Hindi film metadata — 57,005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Malayalam songs — 26,232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MusicBrainz artist API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14400" y="4617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energy is 0 for all 1,000,000 songs, so it was measured and dropped.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520440" y="22860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3703320" y="2514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2BA3"/>
                </a:solidFill>
              </a:rPr>
              <a:t>Python Preparation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3749040" y="30632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Sample of 928 songs per decade, 1950–2010, seed 42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MusicBrainz enrichment at 1 request/second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3,502 of 3,525 artists found, language 99.8%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3749040" y="4617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Stratified because the 1950s hold 1,210 songs against 128,641 in the 2000s.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355080" y="22860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6537960" y="2514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9FA4"/>
                </a:solidFill>
              </a:rPr>
              <a:t>TurboPrep (AI Studio)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583680" y="30632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A · Hindi cleaned — 2,000 rows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B · Malayalam cleaned — 1,349 rows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C · MSD + MusicBrainz join — 6,491 rows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D · Append and standardise 15 language codes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583680" y="4617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'#' silently broke 5 rows and the system encoding turned Malayalam into '???'. Both found and fixed.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9189720" y="22860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9372600" y="2514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3F78"/>
                </a:solidFill>
              </a:rPr>
              <a:t>Master Table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9418320" y="30632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songs_master.csv — 9,840 × 14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Years 1950–2010, 0 duplicate ids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English 5,921 · Hindi 2,000 · Malayalam 1,349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Popularity missing in 5,238 rows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9418320" y="4617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Missing popularity is filled with the training average, 63.633, everywhere it is used.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860628F-C5EE-8231-DC98-D55344CC1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279" y="-469484"/>
            <a:ext cx="1956986" cy="212768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758FDA4-4E3E-9DFC-C5C3-2F8BBED52F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7163" y="-301907"/>
            <a:ext cx="1597290" cy="179237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F2D47AB-3DBC-48C6-D19B-327DE713D5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7278" y="169034"/>
            <a:ext cx="1609483" cy="100592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A358396-F437-1FD2-6FBF-609C0B6CCC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440" y="293997"/>
            <a:ext cx="798645" cy="67061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FD0EDF8-575D-F454-D0BB-E6D489F43F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5771" y="248351"/>
            <a:ext cx="847417" cy="70719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D798EC5-A97A-0AA8-EF7F-5300B9AF65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4997" y="265176"/>
            <a:ext cx="1856094" cy="63403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893F1D2-006F-38AB-5A4A-3FBB846718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2214" y="265176"/>
            <a:ext cx="1542422" cy="640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749808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50876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31720" y="1325880"/>
            <a:ext cx="0" cy="566928"/>
          </a:xfrm>
          <a:prstGeom prst="line">
            <a:avLst/>
          </a:prstGeom>
          <a:noFill/>
          <a:ln w="12700">
            <a:solidFill>
              <a:srgbClr val="0A3F7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606040" y="11155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Comparison &amp; Validation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2606040" y="16276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Three models, tested so that no listener ever appears in both training and testing.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7724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600"/>
                </a:solidFill>
              </a:rPr>
              <a:t>CROSS VALIDATION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77240" y="2459736"/>
            <a:ext cx="1005840" cy="0"/>
          </a:xfrm>
          <a:prstGeom prst="line">
            <a:avLst/>
          </a:prstGeom>
          <a:noFill/>
          <a:ln w="27940">
            <a:solidFill>
              <a:srgbClr val="FF7600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777240" y="2542032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941832" y="2688336"/>
            <a:ext cx="2871216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Logistic Regression — AUC 0.790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Random Forest — AUC 0.831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Gradient Boosted Trees — AUC 0.835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Always predicting no — 57.0%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43484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2BA3"/>
                </a:solidFill>
              </a:rPr>
              <a:t>WHY RANDOM FOREST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434840" y="2459736"/>
            <a:ext cx="1005840" cy="0"/>
          </a:xfrm>
          <a:prstGeom prst="line">
            <a:avLst/>
          </a:prstGeom>
          <a:noFill/>
          <a:ln w="27940">
            <a:solidFill>
              <a:srgbClr val="6C2BA3"/>
            </a:solidFill>
            <a:prstDash val="solid"/>
          </a:ln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4434840" y="2542032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4599432" y="2688336"/>
            <a:ext cx="2871216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AUC ties with GBT inside ±0.073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Recall 80.5% against 58.3%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Missing a song that would have worked is the expensive error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Simpler to explain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09244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9FA4"/>
                </a:solidFill>
              </a:rPr>
              <a:t>HOLDOUT — 60 UNSEEN LISTENERS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092440" y="2459736"/>
            <a:ext cx="1005840" cy="0"/>
          </a:xfrm>
          <a:prstGeom prst="line">
            <a:avLst/>
          </a:prstGeom>
          <a:noFill/>
          <a:ln w="27940">
            <a:solidFill>
              <a:srgbClr val="0B9FA4"/>
            </a:solidFill>
            <a:prstDash val="solid"/>
          </a:ln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8092440" y="2542032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0" name="Text 25"/>
          <p:cNvSpPr/>
          <p:nvPr/>
        </p:nvSpPr>
        <p:spPr>
          <a:xfrm>
            <a:off x="8257032" y="2688336"/>
            <a:ext cx="2871216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AUC 0.804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Top-10 hit rate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Random Forest 74.2%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Baseline formula 63.2%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Random order 40.2%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777240" y="516636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941832" y="5312664"/>
            <a:ext cx="101864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3A"/>
                </a:solidFill>
              </a:rPr>
              <a:t>Cross Validation with split on batch attribute (user_id): every listener is scored by a model that never saw them. Trained on SIMULATED interactions — the pipeline is proven, the idea is not yet.</a:t>
            </a:r>
            <a:endParaRPr lang="en-US" sz="15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91F4D65-ACD6-F297-1F78-7692ED175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314" y="-460340"/>
            <a:ext cx="1956986" cy="21276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6B9EC88-DC8B-417A-48FC-410AD7ACB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0350" y="-295812"/>
            <a:ext cx="1597290" cy="180457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1148015-62EE-24E5-E1E1-933D841106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9706" y="182793"/>
            <a:ext cx="1609483" cy="100592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A84E359-27DB-D133-940F-B2E1167736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8964" y="307790"/>
            <a:ext cx="798645" cy="67061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B40E329-4D1E-B382-A827-74FC61C4C2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2705" y="255941"/>
            <a:ext cx="847417" cy="70719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0DC7C87-CA1F-ADE3-0C0A-6F0662D948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9854" y="266645"/>
            <a:ext cx="1786283" cy="63403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DB658F0-B6C9-B088-20E2-EDEC8C0C59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24738" y="255977"/>
            <a:ext cx="1542422" cy="640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7315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50876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31720" y="1325880"/>
            <a:ext cx="0" cy="566928"/>
          </a:xfrm>
          <a:prstGeom prst="line">
            <a:avLst/>
          </a:prstGeom>
          <a:noFill/>
          <a:ln w="12700">
            <a:solidFill>
              <a:srgbClr val="0A3F7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606040" y="11155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2606040" y="16276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five things that make this work for the person in front of it.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777240" y="2148840"/>
            <a:ext cx="4892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960120" y="235000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FF7600"/>
          </a:solidFill>
          <a:ln w="12700">
            <a:solidFill>
              <a:srgbClr val="FF7600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1088136" y="245973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60020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B3A"/>
                </a:solidFill>
              </a:rPr>
              <a:t>Two-stage recommender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600200" y="2715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baseline picks 200 candidates, the Random Forest ranks them.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100% language match in the top 10.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263640" y="2148840"/>
            <a:ext cx="4892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6446520" y="235000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6C2BA3"/>
          </a:solidFill>
          <a:ln w="12700">
            <a:solidFill>
              <a:srgbClr val="6C2BA3"/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6574536" y="245973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08660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B3A"/>
                </a:solidFill>
              </a:rPr>
              <a:t>Songs in the listener's own language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7086600" y="2715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Malayalam and Hindi are first-class, not an afterthought.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3,349 rows carry no audio fields and still rank.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777240" y="3840480"/>
            <a:ext cx="4892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960120" y="404164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B9FA4"/>
          </a:solidFill>
          <a:ln w="12700">
            <a:solidFill>
              <a:srgbClr val="0B9FA4"/>
            </a:solidFill>
            <a:prstDash val="solid"/>
          </a:ln>
        </p:spPr>
        <p:txBody>
          <a:bodyPr/>
          <a:p/>
        </p:txBody>
      </p:sp>
      <p:sp>
        <p:nvSpPr>
          <p:cNvPr id="31" name="Text 26"/>
          <p:cNvSpPr/>
          <p:nvPr/>
        </p:nvSpPr>
        <p:spPr>
          <a:xfrm>
            <a:off x="1088136" y="415137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160020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B3A"/>
                </a:solidFill>
              </a:rPr>
              <a:t>Speak the memory</a:t>
            </a:r>
            <a:endParaRPr lang="en-US" sz="1700" dirty="0"/>
          </a:p>
        </p:txBody>
      </p:sp>
      <p:sp>
        <p:nvSpPr>
          <p:cNvPr id="33" name="Text 28"/>
          <p:cNvSpPr/>
          <p:nvPr/>
        </p:nvSpPr>
        <p:spPr>
          <a:xfrm>
            <a:off x="1600200" y="44074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Speech to text in the listener's own language.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The transcript is editable; nothing saves until they confirm.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6263640" y="3840480"/>
            <a:ext cx="4892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5" name="Shape 30"/>
          <p:cNvSpPr/>
          <p:nvPr/>
        </p:nvSpPr>
        <p:spPr>
          <a:xfrm>
            <a:off x="6446520" y="404164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A3F78"/>
          </a:solidFill>
          <a:ln w="12700">
            <a:solidFill>
              <a:srgbClr val="0A3F78"/>
            </a:solidFill>
            <a:prstDash val="solid"/>
          </a:ln>
        </p:spPr>
        <p:txBody>
          <a:bodyPr/>
          <a:p/>
        </p:txBody>
      </p:sp>
      <p:sp>
        <p:nvSpPr>
          <p:cNvPr id="36" name="Text 31"/>
          <p:cNvSpPr/>
          <p:nvPr/>
        </p:nvSpPr>
        <p:spPr>
          <a:xfrm>
            <a:off x="6574536" y="415137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708660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B3A"/>
                </a:solidFill>
              </a:rPr>
              <a:t>The app says who ranked</a:t>
            </a:r>
            <a:endParaRPr lang="en-US" sz="1700" dirty="0"/>
          </a:p>
        </p:txBody>
      </p:sp>
      <p:sp>
        <p:nvSpPr>
          <p:cNvPr id="38" name="Text 33"/>
          <p:cNvSpPr/>
          <p:nvPr/>
        </p:nvSpPr>
        <p:spPr>
          <a:xfrm>
            <a:off x="7086600" y="44074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Every list states RapidMiner Random Forest or Baseline formula,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so the person can see how the songs were chosen.</a:t>
            </a:r>
            <a:endParaRPr lang="en-US" sz="13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F8892DE-2756-198B-C331-B29D317C2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040" y="-480364"/>
            <a:ext cx="1950976" cy="212770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8BF414B-3281-6FCF-6DFB-4A5AEA55EA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6694" y="-282119"/>
            <a:ext cx="1597290" cy="179237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4420A1F-405F-5954-3E36-0FB04C371B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4195" y="183729"/>
            <a:ext cx="1609483" cy="100592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A4DAF5D-9E4E-C334-6AAF-89521EFE14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0083" y="303891"/>
            <a:ext cx="798645" cy="67061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45B264B-857E-A75C-F125-BBA3B75186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5180" y="266546"/>
            <a:ext cx="847417" cy="70719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756BBD4-BE24-7F1E-1CF7-B75D15E922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5490" y="266468"/>
            <a:ext cx="1786283" cy="63403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900B6F75-189D-D800-8703-0CA8365152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7477" y="263421"/>
            <a:ext cx="1536325" cy="640135"/>
          </a:xfrm>
          <a:prstGeom prst="rect">
            <a:avLst/>
          </a:prstGeom>
        </p:spPr>
      </p:pic>
      <p:sp>
        <p:nvSpPr>
          <p:cNvPr id="59" name="Shape 24 copy"/>
          <p:cNvSpPr/>
          <p:nvPr/>
        </p:nvSpPr>
        <p:spPr>
          <a:xfrm>
            <a:off x="777240" y="5486400"/>
            <a:ext cx="10378440" cy="594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0" name="Shape 25 copy"/>
          <p:cNvSpPr/>
          <p:nvPr/>
        </p:nvSpPr>
        <p:spPr>
          <a:xfrm>
            <a:off x="960120" y="5541264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B9FA4"/>
          </a:solidFill>
          <a:ln w="12700">
            <a:solidFill>
              <a:srgbClr val="0B9FA4"/>
            </a:solidFill>
            <a:prstDash val="solid"/>
          </a:ln>
        </p:spPr>
        <p:txBody>
          <a:bodyPr/>
          <a:p/>
        </p:txBody>
      </p:sp>
      <p:sp>
        <p:nvSpPr>
          <p:cNvPr id="61" name="Text 26 copy"/>
          <p:cNvSpPr/>
          <p:nvPr/>
        </p:nvSpPr>
        <p:spPr>
          <a:xfrm>
            <a:off x="1088136" y="56509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62" name="Text 27 copy"/>
          <p:cNvSpPr/>
          <p:nvPr/>
        </p:nvSpPr>
        <p:spPr>
          <a:xfrm>
            <a:off x="1600200" y="55686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B3A"/>
                </a:solidFill>
              </a:rPr>
              <a:t>Memories return by life period</a:t>
            </a:r>
            <a:endParaRPr lang="en-US" sz="1700" dirty="0"/>
          </a:p>
        </p:txBody>
      </p:sp>
      <p:sp>
        <p:nvSpPr>
          <p:cNvPr id="63" name="Text 28 copy"/>
          <p:cNvSpPr/>
          <p:nvPr/>
        </p:nvSpPr>
        <p:spPr>
          <a:xfrm>
            <a:off x="5440680" y="5586984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 b="0">
                <a:solidFill>
                  <a:srgbClr val="64748B"/>
                </a:solidFill>
              </a:rPr>
              <a:t>Childhood, College, Early adulthood, Family/Career — each memory is filed under the era it belongs to.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722376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50876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31720" y="1325880"/>
            <a:ext cx="0" cy="566928"/>
          </a:xfrm>
          <a:prstGeom prst="line">
            <a:avLst/>
          </a:prstGeom>
          <a:noFill/>
          <a:ln w="12700">
            <a:solidFill>
              <a:srgbClr val="0A3F7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606040" y="11155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Accessibility &amp; Inclusion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2606040" y="16276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Inclusion is a design decision here, not a feature added at the end.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868680" y="2240280"/>
            <a:ext cx="438912" cy="438912"/>
          </a:xfrm>
          <a:prstGeom prst="ellipse">
            <a:avLst/>
          </a:prstGeom>
          <a:solidFill>
            <a:srgbClr val="FF7600"/>
          </a:solidFill>
          <a:ln w="12700">
            <a:solidFill>
              <a:srgbClr val="FF7600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996696" y="235458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55448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B3A"/>
                </a:solidFill>
              </a:rPr>
              <a:t>Accessible by Design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554480" y="246888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</a:rPr>
              <a:t>Speech input in Malayalam, Hindi or English; large plain type, no emoji; runs on one laptop with no streaming account.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868680" y="3383280"/>
            <a:ext cx="438912" cy="438912"/>
          </a:xfrm>
          <a:prstGeom prst="ellipse">
            <a:avLst/>
          </a:prstGeom>
          <a:solidFill>
            <a:srgbClr val="6C2BA3"/>
          </a:solidFill>
          <a:ln w="12700">
            <a:solidFill>
              <a:srgbClr val="6C2BA3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996696" y="349758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554480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B3A"/>
                </a:solidFill>
              </a:rPr>
              <a:t>User Safety &amp; Ethics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1554480" y="361188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</a:rPr>
              <a:t>Not a medical product and no diagnosis; memories stay in a local SQLite file; the app never invents a memory or rewrites the person's words.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868680" y="4526280"/>
            <a:ext cx="438912" cy="438912"/>
          </a:xfrm>
          <a:prstGeom prst="ellipse">
            <a:avLst/>
          </a:prstGeom>
          <a:solidFill>
            <a:srgbClr val="0B9FA4"/>
          </a:solidFill>
          <a:ln w="12700">
            <a:solidFill>
              <a:srgbClr val="0B9FA4"/>
            </a:solidFill>
            <a:prstDash val="solid"/>
          </a:ln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996696" y="464058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55448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B3A"/>
                </a:solidFill>
              </a:rPr>
              <a:t>Local Relevance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1554480" y="475488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</a:rPr>
              <a:t>3,349 Malayalam and Hindi songs; UTF-8 fixed so titles render in their own script; a Devanagari font for Hindi text.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68680" y="5577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1033272" y="5724144"/>
            <a:ext cx="100949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Proof: 9 automated tests pass, and a headless end-to-end run saved a 1976 Malayalam song, its memory and its life period.</a:t>
            </a:r>
            <a:endParaRPr lang="en-US" sz="14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59831D1-0F9C-A3C9-C891-BD42F3C20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268" y="-508547"/>
            <a:ext cx="1956986" cy="21276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6FA6BAE-5311-78AB-3F55-3DB973E582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9187" y="-301984"/>
            <a:ext cx="1597290" cy="179237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6DE679B-2F9C-0FA2-ECD1-189B59EE52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6547" y="169034"/>
            <a:ext cx="1609483" cy="100592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E589331-66E9-F988-76AB-C366B83F02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7469" y="301259"/>
            <a:ext cx="798645" cy="67061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6FA1D40-D2AB-424B-B332-7E4FE43061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257379"/>
            <a:ext cx="847417" cy="70719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54C75CE-8D78-54A4-F6F4-1E5082123E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0235" y="265176"/>
            <a:ext cx="1786283" cy="63403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D6559E6-D087-87F0-448C-5A758D946E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7450" y="253058"/>
            <a:ext cx="1542422" cy="6401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7315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50876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31720" y="1325880"/>
            <a:ext cx="0" cy="566928"/>
          </a:xfrm>
          <a:prstGeom prst="line">
            <a:avLst/>
          </a:prstGeom>
          <a:noFill/>
          <a:ln w="12700">
            <a:solidFill>
              <a:srgbClr val="0A3F7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606040" y="11155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 Stack &amp; Implementation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2606040" y="16276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tools behind each part of the workflow, and why each one was chosen.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685800" y="22860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868680" y="2514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600"/>
                </a:solidFill>
              </a:rPr>
              <a:t>Frontend / UI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14400" y="30632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Streamlit, five pages, paper-and-ink theme, speech input through streamlit-mic-recorder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14400" y="4617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Python UI so one person could ship something usable.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520440" y="22860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3703320" y="2514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2BA3"/>
                </a:solidFill>
              </a:rPr>
              <a:t>Backend / Data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3749040" y="30632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Python 3.13, pandas, SQLite with users, memories and interactions, MusicBrainz API at 1 request/second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3749040" y="4617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SQLite keeps everything local: no account, no server.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355080" y="22860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6537960" y="2514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9FA4"/>
                </a:solidFill>
              </a:rPr>
              <a:t>AI / ML / Models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583680" y="30632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Altair AI Studio 2026.1.1: TurboPrep, Random Forest, Logistic Regression, Gradient Boosted Trees, Cross Validation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583680" y="4617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Random Forest chosen on recall, not on AUC alone.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9189720" y="22860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9372600" y="2514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3F78"/>
                </a:solidFill>
              </a:rPr>
              <a:t>Scoring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9418320" y="30632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71B3A"/>
                </a:solidFill>
              </a:rPr>
              <a:t>Batch scoring writes predictions_grid.csv, 265,680 rows, which the app loads at startup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9418320" y="4617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Batch scoring is how AI Studio is used in practice.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860628F-C5EE-8231-DC98-D55344CC1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279" y="-469484"/>
            <a:ext cx="1956986" cy="212768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758FDA4-4E3E-9DFC-C5C3-2F8BBED52F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7163" y="-301907"/>
            <a:ext cx="1597290" cy="179237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F2D47AB-3DBC-48C6-D19B-327DE713D5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7278" y="169034"/>
            <a:ext cx="1609483" cy="100592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A358396-F437-1FD2-6FBF-609C0B6CCC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440" y="293997"/>
            <a:ext cx="798645" cy="67061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FD0EDF8-575D-F454-D0BB-E6D489F43F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5771" y="248351"/>
            <a:ext cx="847417" cy="70719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D798EC5-A97A-0AA8-EF7F-5300B9AF65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4997" y="265176"/>
            <a:ext cx="1856094" cy="63403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893F1D2-006F-38AB-5A4A-3FBB846718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2214" y="265176"/>
            <a:ext cx="1542422" cy="6401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758952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50876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31720" y="1325880"/>
            <a:ext cx="0" cy="566928"/>
          </a:xfrm>
          <a:prstGeom prst="line">
            <a:avLst/>
          </a:prstGeom>
          <a:noFill/>
          <a:ln w="12700">
            <a:solidFill>
              <a:srgbClr val="0A3F7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606040" y="11155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Evidence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2606040" y="16276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Proof that the workflow runs and the prototype works.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777240" y="21488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941832" y="2295144"/>
            <a:ext cx="2871216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B3A"/>
                </a:solidFill>
              </a:rPr>
              <a:t>DRIVE FOLDER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71B3A"/>
                </a:solidFill>
              </a:rPr>
              <a:t>[Paste the Drive link here]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4480560" y="21488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4645152" y="2295144"/>
            <a:ext cx="2871216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B3A"/>
                </a:solidFill>
              </a:rPr>
              <a:t>DEMO VIDEO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71B3A"/>
                </a:solidFill>
              </a:rPr>
              <a:t>[Paste the YouTube link here]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8183880" y="2148840"/>
            <a:ext cx="2880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8348472" y="2295144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PROCESS FILES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Both .rmp files, in the Drive folder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77724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600"/>
                </a:solidFill>
              </a:rPr>
              <a:t>SCREENSHOTS / PRODUCT IMAGES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7240" y="3968496"/>
            <a:ext cx="1005840" cy="0"/>
          </a:xfrm>
          <a:prstGeom prst="line">
            <a:avLst/>
          </a:prstGeom>
          <a:noFill/>
          <a:ln w="27940">
            <a:solidFill>
              <a:srgbClr val="FF7600"/>
            </a:solidFill>
            <a:prstDash val="solid"/>
          </a:ln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77240" y="40690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941832" y="4215384"/>
            <a:ext cx="2825496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 dirty="0" b="1">
                <a:solidFill>
                  <a:srgbClr val="64748B"/>
                </a:solidFill>
              </a:rPr>
              <a:t>Image 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64748B"/>
                </a:solidFill>
              </a:rPr>
              <a:t>The RapidMiner process: cross validation, holdout, demo and grid scoring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4434840" y="40690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0" name="Text 25"/>
          <p:cNvSpPr/>
          <p:nvPr/>
        </p:nvSpPr>
        <p:spPr>
          <a:xfrm>
            <a:off x="4599432" y="4215384"/>
            <a:ext cx="2825496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 dirty="0" b="1">
                <a:solidFill>
                  <a:srgbClr val="64748B"/>
                </a:solidFill>
              </a:rPr>
              <a:t>Image 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64748B"/>
                </a:solidFill>
              </a:rPr>
              <a:t>The app's song list, with the line naming the Random Forest as the ranker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8092440" y="40690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8257032" y="4215384"/>
            <a:ext cx="2825496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 dirty="0" b="1">
                <a:solidFill>
                  <a:srgbClr val="64748B"/>
                </a:solidFill>
              </a:rPr>
              <a:t>Image 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64748B"/>
                </a:solidFill>
              </a:rPr>
              <a:t>The timeline: a saved memory filed under its life period</a:t>
            </a:r>
            <a:endParaRPr lang="en-US" sz="15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BD5D082-EF64-A755-96CF-8F3CC7784C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314" y="-455768"/>
            <a:ext cx="1956986" cy="21276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601D150-EC55-D8FF-9999-5561AEB94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8909" y="-308004"/>
            <a:ext cx="1597290" cy="179847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0E322FF-5C14-E901-9AF3-93CEC9644D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4435" y="192770"/>
            <a:ext cx="1609483" cy="100592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723EC4A-EA04-B2D7-EEE2-E0DCD3C42C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9439" y="272767"/>
            <a:ext cx="798645" cy="67061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90C9FD0-0DB3-724F-647F-EDA6898FF3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2289" y="258117"/>
            <a:ext cx="847417" cy="70719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F3804FC-4ABD-0A31-BAF0-13B396AE4B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7970" y="302696"/>
            <a:ext cx="1786283" cy="63403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9E95116-6BEA-D758-9AF1-F181BFEC47E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3028" y="261257"/>
            <a:ext cx="1542422" cy="6401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749808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50876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31720" y="1325880"/>
            <a:ext cx="0" cy="566928"/>
          </a:xfrm>
          <a:prstGeom prst="line">
            <a:avLst/>
          </a:prstGeom>
          <a:noFill/>
          <a:ln w="12700">
            <a:solidFill>
              <a:srgbClr val="0A3F7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606040" y="11155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&amp; Scalability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2606040" y="16276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What the numbers show, how they were checked, and where this goes next.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7724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600"/>
                </a:solidFill>
              </a:rPr>
              <a:t>IMPACT METRICS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77240" y="2459736"/>
            <a:ext cx="1005840" cy="0"/>
          </a:xfrm>
          <a:prstGeom prst="line">
            <a:avLst/>
          </a:prstGeom>
          <a:noFill/>
          <a:ln w="27940">
            <a:solidFill>
              <a:srgbClr val="FF7600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777240" y="2542032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941832" y="2688336"/>
            <a:ext cx="2871216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Top-10 hit rate 74.2% against 63.2%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265,680 predictions served to the app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9,840 songs across three languages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27 profile cells covering birth years 1935–1975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43484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2BA3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434840" y="2459736"/>
            <a:ext cx="1005840" cy="0"/>
          </a:xfrm>
          <a:prstGeom prst="line">
            <a:avLst/>
          </a:prstGeom>
          <a:noFill/>
          <a:ln w="27940">
            <a:solidFill>
              <a:srgbClr val="6C2BA3"/>
            </a:solidFill>
            <a:prstDash val="solid"/>
          </a:ln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4434840" y="2542032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4599432" y="2688336"/>
            <a:ext cx="2871216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Leave-one-listener-out cross validation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Holdout of 60 listeners never seen in training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Independent scikit-learn check agrees with AI Studio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SIMULATED labels — real listeners are the next step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09244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9FA4"/>
                </a:solidFill>
              </a:rPr>
              <a:t>SCALABILITY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092440" y="2459736"/>
            <a:ext cx="1005840" cy="0"/>
          </a:xfrm>
          <a:prstGeom prst="line">
            <a:avLst/>
          </a:prstGeom>
          <a:noFill/>
          <a:ln w="27940">
            <a:solidFill>
              <a:srgbClr val="0B9FA4"/>
            </a:solidFill>
            <a:prstDash val="solid"/>
          </a:ln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8092440" y="2542032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0" name="Text 25"/>
          <p:cNvSpPr/>
          <p:nvPr/>
        </p:nvSpPr>
        <p:spPr>
          <a:xfrm>
            <a:off x="8257032" y="2688336"/>
            <a:ext cx="2871216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The interactions table already stores real reactions in the training format, so one retrain replaces the simulation.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71B3A"/>
                </a:solidFill>
              </a:rPr>
              <a:t>The grid grows by language and birth year, not by user, so more listeners cost nothing.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777240" y="516636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941832" y="5312664"/>
            <a:ext cx="101864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3A"/>
                </a:solidFill>
              </a:rPr>
              <a:t>In one line: MemoryBridge can help an older listener recover the songs of their youth, and keep the memories those songs return.</a:t>
            </a:r>
            <a:endParaRPr lang="en-US" sz="15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91F4D65-ACD6-F297-1F78-7692ED175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314" y="-460340"/>
            <a:ext cx="1956986" cy="21276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6B9EC88-DC8B-417A-48FC-410AD7ACB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0350" y="-295812"/>
            <a:ext cx="1597290" cy="180457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1148015-62EE-24E5-E1E1-933D841106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9706" y="182793"/>
            <a:ext cx="1609483" cy="100592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A84E359-27DB-D133-940F-B2E1167736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8964" y="307790"/>
            <a:ext cx="798645" cy="67061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B40E329-4D1E-B382-A827-74FC61C4C2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2705" y="255941"/>
            <a:ext cx="847417" cy="70719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0DC7C87-CA1F-ADE3-0C0A-6F0662D948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9854" y="266645"/>
            <a:ext cx="1786283" cy="63403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DB658F0-B6C9-B088-20E2-EDEC8C0C59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24738" y="255977"/>
            <a:ext cx="1542422" cy="6401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749808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15568"/>
            <a:ext cx="150876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31720" y="1325880"/>
            <a:ext cx="0" cy="566928"/>
          </a:xfrm>
          <a:prstGeom prst="line">
            <a:avLst/>
          </a:prstGeom>
          <a:noFill/>
          <a:ln w="12700">
            <a:solidFill>
              <a:srgbClr val="0A3F7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2606040" y="11155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&amp; Support Needed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2606040" y="16276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practical next-step plan, with the honest gap named first.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777240" y="214884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F7600"/>
          </a:solidFill>
          <a:ln w="12700">
            <a:solidFill>
              <a:srgbClr val="FF7600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ACB7C3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886968" y="2226564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Now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77240" y="2606040"/>
            <a:ext cx="2148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941832" y="2752344"/>
            <a:ext cx="1819656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71B3A"/>
                </a:solidFill>
              </a:rPr>
              <a:t>• Collect 30–60 real reactions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71B3A"/>
                </a:solidFill>
              </a:rPr>
              <a:t>• From 3–5 real listeners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71B3A"/>
                </a:solidFill>
              </a:rPr>
              <a:t>• Replaces the simulated labels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3611880" y="214884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6C2BA3"/>
          </a:solidFill>
          <a:ln w="12700">
            <a:solidFill>
              <a:srgbClr val="6C2BA3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ACB7C3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3721608" y="2226564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Next 2 Weeks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611880" y="2606040"/>
            <a:ext cx="2148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3776472" y="2752344"/>
            <a:ext cx="1819656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71B3A"/>
                </a:solidFill>
              </a:rPr>
              <a:t>• Retrain on the real reactions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71B3A"/>
                </a:solidFill>
              </a:rPr>
              <a:t>• Re-run the holdout test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71B3A"/>
                </a:solidFill>
              </a:rPr>
              <a:t>• Honest, non-simulated scores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6446520" y="214884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0B9FA4"/>
          </a:solidFill>
          <a:ln w="12700">
            <a:solidFill>
              <a:srgbClr val="0B9FA4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ACB7C3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6556248" y="2226564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Next 2 Months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446520" y="2606040"/>
            <a:ext cx="2148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0" name="Text 25"/>
          <p:cNvSpPr/>
          <p:nvPr/>
        </p:nvSpPr>
        <p:spPr>
          <a:xfrm>
            <a:off x="6611112" y="2752344"/>
            <a:ext cx="1819656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71B3A"/>
                </a:solidFill>
              </a:rPr>
              <a:t>• Pilot with families and a care home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71B3A"/>
                </a:solidFill>
              </a:rPr>
              <a:t>• Memories saved with photos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71B3A"/>
                </a:solidFill>
              </a:rPr>
              <a:t>• Add Tamil and Telugu to the grid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9281160" y="214884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0A3F78"/>
          </a:solidFill>
          <a:ln w="12700">
            <a:solidFill>
              <a:srgbClr val="0A3F78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ACB7C3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9390888" y="2226564"/>
            <a:ext cx="1929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Support Needed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9281160" y="2606040"/>
            <a:ext cx="2148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4" name="Text 29"/>
          <p:cNvSpPr/>
          <p:nvPr/>
        </p:nvSpPr>
        <p:spPr>
          <a:xfrm>
            <a:off x="9445752" y="2752344"/>
            <a:ext cx="1819656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71B3A"/>
                </a:solidFill>
              </a:rPr>
              <a:t>• Introductions to older listeners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71B3A"/>
                </a:solidFill>
              </a:rPr>
              <a:t>• Consent and ethics guidance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71B3A"/>
                </a:solidFill>
              </a:rPr>
              <a:t>• Hosting so scoring can run on a schedule</a:t>
            </a:r>
            <a:endParaRPr lang="en-US" sz="1350" dirty="0"/>
          </a:p>
        </p:txBody>
      </p:sp>
      <p:sp>
        <p:nvSpPr>
          <p:cNvPr id="35" name="Shape 30"/>
          <p:cNvSpPr/>
          <p:nvPr/>
        </p:nvSpPr>
        <p:spPr>
          <a:xfrm>
            <a:off x="777240" y="5166360"/>
            <a:ext cx="10515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6" name="Text 31"/>
          <p:cNvSpPr/>
          <p:nvPr/>
        </p:nvSpPr>
        <p:spPr>
          <a:xfrm>
            <a:off x="941832" y="5312664"/>
            <a:ext cx="1018641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</a:rPr>
              <a:t>Contact: [Your Name]  |  [Educational email]  |  [Phone]  |  [YouTube / Drive link]</a:t>
            </a:r>
            <a:endParaRPr lang="en-US" sz="14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513B457-FC73-FF44-A8AF-2A225A9E64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67" y="-481676"/>
            <a:ext cx="1956986" cy="213378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9C11EE0-6D03-80F0-AC88-A13E4DD478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0488" y="-292687"/>
            <a:ext cx="1603387" cy="181066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8A77287-80A7-6A52-473E-35D57C18F5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6160" y="182793"/>
            <a:ext cx="1609483" cy="100592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46C706A-02EC-6928-D036-87F010EC97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4531" y="300186"/>
            <a:ext cx="798645" cy="67671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116FFA9-0498-1A05-BEA3-42A1A49481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8363" y="249905"/>
            <a:ext cx="847417" cy="70719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DD93EB9-58FA-6623-9A53-F341D99F19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4919" y="286483"/>
            <a:ext cx="1786283" cy="63403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DDB5B91-3579-948D-C018-F5D9C3FB6A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8362" y="261575"/>
            <a:ext cx="1548518" cy="6401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nclucode_grid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808" y="9144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" y="4709160"/>
            <a:ext cx="1600200" cy="160020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A3F7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 rot="10800000">
            <a:off x="10515600" y="137160"/>
            <a:ext cx="1417320" cy="141732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6C2BA3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0469880" y="5074920"/>
            <a:ext cx="1325880" cy="132588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B9FA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11480" y="228600"/>
            <a:ext cx="11384280" cy="7315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7EB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B6C2D1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8" name="Image 2" descr="/mnt/data/inclucode_logo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143000"/>
            <a:ext cx="3474720" cy="21488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35204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71B3A"/>
                </a:solidFill>
              </a:rPr>
              <a:t>THANK YOU</a:t>
            </a:r>
            <a:endParaRPr lang="en-US" sz="5000" dirty="0"/>
          </a:p>
        </p:txBody>
      </p:sp>
      <p:sp>
        <p:nvSpPr>
          <p:cNvPr id="10" name="Text 5"/>
          <p:cNvSpPr/>
          <p:nvPr/>
        </p:nvSpPr>
        <p:spPr>
          <a:xfrm>
            <a:off x="1828800" y="43434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2BA3"/>
                </a:solidFill>
              </a:rPr>
              <a:t>[Your Name]  •  MemoryBridge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2743200" y="4892040"/>
            <a:ext cx="6720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2907792" y="5038344"/>
            <a:ext cx="63916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4748B"/>
                </a:solidFill>
              </a:rPr>
              <a:t>Demo video  ·  Drive folder  ·  docs/project_summary.md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2743200" y="6245352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6EAF0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6D0DA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3035808" y="6345936"/>
            <a:ext cx="1078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7600"/>
                </a:solidFill>
              </a:rPr>
              <a:t>CODE INCLUSIVE.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315968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4617720" y="634593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C2BA3"/>
                </a:solidFill>
              </a:rPr>
              <a:t>BUILD ACCESSIBLE.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062472" y="6327648"/>
            <a:ext cx="0" cy="146304"/>
          </a:xfrm>
          <a:prstGeom prst="line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6336792" y="634593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9FA4"/>
                </a:solidFill>
              </a:rPr>
              <a:t>EMPOWER INDEPENDENCE.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1475720" y="63093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96C08A2-B428-296A-BFD3-05192F6AE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40" y="-487865"/>
            <a:ext cx="1956986" cy="21337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03D92A-3FA5-0291-A9A1-82DF3745F0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3226" y="-326308"/>
            <a:ext cx="1603387" cy="181066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4C7A0A8-866C-55D1-C639-D2AA548496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6542" y="170750"/>
            <a:ext cx="1609483" cy="100592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B89E02A-A687-9EDC-BD55-3AEB860E02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2497" y="292519"/>
            <a:ext cx="798645" cy="6767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1B19890-76DA-319E-B857-03F9E754A4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9643" y="238927"/>
            <a:ext cx="847417" cy="70719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6DA6940-225C-B7C8-C094-6D10356DC8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7805" y="240836"/>
            <a:ext cx="1786283" cy="63403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10E324F-30C8-7D5D-3465-872CEE364A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25018" y="262038"/>
            <a:ext cx="1548518" cy="6401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928</Words>
  <Application>Microsoft Office PowerPoint</Application>
  <PresentationFormat>Widescreen</PresentationFormat>
  <Paragraphs>227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INCLUCODE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INCLUCODE 2026 Team Presentation Template</dc:title>
  <dc:subject>Team Presentation Template</dc:subject>
  <dc:creator>INCLUCODE 2026</dc:creator>
  <cp:lastModifiedBy>Irene Kallookaran Anto</cp:lastModifiedBy>
  <cp:revision>23</cp:revision>
  <dcterms:created xsi:type="dcterms:W3CDTF">2026-07-21T17:32:52Z</dcterms:created>
  <dcterms:modified xsi:type="dcterms:W3CDTF">2026-07-22T14:48:57Z</dcterms:modified>
</cp:coreProperties>
</file>